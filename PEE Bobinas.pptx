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Lustria" panose="020B0604020202020204" charset="0"/>
      <p:regular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Tijpukt0pxLLUO2TLth2u2J+nS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é Aníbal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1-14T19:56:00.741" idx="1">
    <p:pos x="10" y="10"/>
    <p:text>Valores -&gt; 2*1n, 47uF, 100n, 10n e um de 4n7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q46-F0U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o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t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202892" y="1732449"/>
            <a:ext cx="5064665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3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379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3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48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1005872" y="2380137"/>
            <a:ext cx="4876344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294967" y="2380137"/>
            <a:ext cx="4895330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4855633" y="609600"/>
            <a:ext cx="6411924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2"/>
          </p:nvPr>
        </p:nvSpPr>
        <p:spPr>
          <a:xfrm>
            <a:off x="913795" y="2431518"/>
            <a:ext cx="3706889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7" descr="Slate-V2-HD-vert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913795" y="2439261"/>
            <a:ext cx="5934949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grafia Panorâmica com Legenda">
  <p:cSld name="Fotografia Panorâmica com Legenda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8" descr="Slate-V2-HD-pano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>
            <a:spLocks noGrp="1"/>
          </p:cNvSpPr>
          <p:nvPr>
            <p:ph type="pic" idx="2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913795" y="5108728"/>
            <a:ext cx="1035376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Legenda">
  <p:cSld name="Título e Legenda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ção com Legenda">
  <p:cSld name="Citação com Legenda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2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  <p:sp>
        <p:nvSpPr>
          <p:cNvPr id="92" name="Google Shape;92;p2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pt-PT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93" name="Google Shape;93;p20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pt-PT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ão de Nome">
  <p:cSld name="Cartão de Nom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nas">
  <p:cSld name="3 Coluna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91379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body" idx="3"/>
          </p:nvPr>
        </p:nvSpPr>
        <p:spPr>
          <a:xfrm>
            <a:off x="4446711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4"/>
          </p:nvPr>
        </p:nvSpPr>
        <p:spPr>
          <a:xfrm>
            <a:off x="444143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5"/>
          </p:nvPr>
        </p:nvSpPr>
        <p:spPr>
          <a:xfrm>
            <a:off x="7966572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6"/>
          </p:nvPr>
        </p:nvSpPr>
        <p:spPr>
          <a:xfrm>
            <a:off x="7966572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na de 3 Imagens">
  <p:cSld name="Coluna de 3 Imagen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3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3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3"/>
          <p:cNvSpPr>
            <a:spLocks noGrp="1"/>
          </p:cNvSpPr>
          <p:nvPr>
            <p:ph type="pic" idx="2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18" name="Google Shape;118;p23"/>
          <p:cNvSpPr txBox="1">
            <a:spLocks noGrp="1"/>
          </p:cNvSpPr>
          <p:nvPr>
            <p:ph type="body" idx="3"/>
          </p:nvPr>
        </p:nvSpPr>
        <p:spPr>
          <a:xfrm>
            <a:off x="913795" y="4480368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4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23"/>
          <p:cNvSpPr>
            <a:spLocks noGrp="1"/>
          </p:cNvSpPr>
          <p:nvPr>
            <p:ph type="pic" idx="5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1" name="Google Shape;121;p23"/>
          <p:cNvSpPr txBox="1">
            <a:spLocks noGrp="1"/>
          </p:cNvSpPr>
          <p:nvPr>
            <p:ph type="body" idx="6"/>
          </p:nvPr>
        </p:nvSpPr>
        <p:spPr>
          <a:xfrm>
            <a:off x="4441435" y="4480367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7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3" name="Google Shape;123;p23"/>
          <p:cNvSpPr>
            <a:spLocks noGrp="1"/>
          </p:cNvSpPr>
          <p:nvPr>
            <p:ph type="pic" idx="8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4" name="Google Shape;124;p23"/>
          <p:cNvSpPr txBox="1">
            <a:spLocks noGrp="1"/>
          </p:cNvSpPr>
          <p:nvPr>
            <p:ph type="body" idx="9"/>
          </p:nvPr>
        </p:nvSpPr>
        <p:spPr>
          <a:xfrm>
            <a:off x="7966572" y="4480365"/>
            <a:ext cx="3300984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 rot="5400000">
            <a:off x="4061301" y="-1415056"/>
            <a:ext cx="4058751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sz="2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30861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29971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sz="16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29083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3200400" marR="0" lvl="6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3657600" marR="0" lvl="7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4114800" marR="0" lvl="8" indent="-290829" algn="l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>
            <a:spLocks noGrp="1"/>
          </p:cNvSpPr>
          <p:nvPr>
            <p:ph type="ctrTitle"/>
          </p:nvPr>
        </p:nvSpPr>
        <p:spPr>
          <a:xfrm>
            <a:off x="1375983" y="2609079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</a:pPr>
            <a:r>
              <a:rPr lang="pt-PT" dirty="0"/>
              <a:t>Transmissor de energia indutivo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>
            <a:spLocks noGrp="1"/>
          </p:cNvSpPr>
          <p:nvPr>
            <p:ph type="title"/>
          </p:nvPr>
        </p:nvSpPr>
        <p:spPr>
          <a:xfrm>
            <a:off x="913795" y="466686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pt-PT" dirty="0"/>
              <a:t>O que é?</a:t>
            </a:r>
            <a:endParaRPr dirty="0"/>
          </a:p>
        </p:txBody>
      </p:sp>
      <p:sp>
        <p:nvSpPr>
          <p:cNvPr id="153" name="Google Shape;153;p2"/>
          <p:cNvSpPr txBox="1">
            <a:spLocks noGrp="1"/>
          </p:cNvSpPr>
          <p:nvPr>
            <p:ph type="body" idx="1"/>
          </p:nvPr>
        </p:nvSpPr>
        <p:spPr>
          <a:xfrm>
            <a:off x="913795" y="1399624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pt-PT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Num sistema de transmissão de energia sem fios, um dispositivo emissor ligado a uma fonte de energia, gera um campo eletromagnético variável no tempo, que transmite energia através do espaço para um dispositivo recetor.</a:t>
            </a:r>
            <a:endParaRPr dirty="0"/>
          </a:p>
          <a:p>
            <a:pPr marL="342900" lvl="0" indent="-306000" algn="l" rtl="0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pt-PT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energia é transferida numa curta distância por campos magnéticos usando acoplamento indutivo entre bobinas de fio.</a:t>
            </a:r>
            <a:endParaRPr dirty="0"/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4593" y="3428999"/>
            <a:ext cx="4891924" cy="240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pt-PT"/>
              <a:t>Exemplo de um uso no nosso quotidiano</a:t>
            </a:r>
            <a:endParaRPr/>
          </a:p>
        </p:txBody>
      </p:sp>
      <p:pic>
        <p:nvPicPr>
          <p:cNvPr id="161" name="Google Shape;161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94553" y="4079960"/>
            <a:ext cx="3524009" cy="216844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162" name="Google Shape;162;p3"/>
          <p:cNvSpPr txBox="1"/>
          <p:nvPr/>
        </p:nvSpPr>
        <p:spPr>
          <a:xfrm>
            <a:off x="8573348" y="6248400"/>
            <a:ext cx="236641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Carregador wireless</a:t>
            </a:r>
            <a:endParaRPr dirty="0"/>
          </a:p>
        </p:txBody>
      </p:sp>
      <p:sp>
        <p:nvSpPr>
          <p:cNvPr id="163" name="Google Shape;163;p3"/>
          <p:cNvSpPr txBox="1"/>
          <p:nvPr/>
        </p:nvSpPr>
        <p:spPr>
          <a:xfrm>
            <a:off x="370071" y="2006082"/>
            <a:ext cx="11585495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Na maior parte dos novos telemóveis e smartwatches é possível serem carregados através de um carregador wireless.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O principio de funcionamento deste é: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AutoNum type="arabicPeriod"/>
            </a:pPr>
            <a:r>
              <a:rPr lang="pt-PT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A</a:t>
            </a:r>
            <a:r>
              <a:rPr lang="pt-PT" sz="1800" b="0" i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 corrente da tomada vai para uma bobina dentro do carregador, criando um campo magnético. (Enrolamento primário)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AutoNum type="arabicPeriod"/>
            </a:pPr>
            <a:r>
              <a:rPr lang="pt-PT" sz="1800" b="0" i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Ao colocar o telemóvel/relógio em cima do carregador, o campo magnético criado no ponto 1 vai induzir uma força eletromotriz que irá carregar o objeto pretendido.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pt-PT"/>
              <a:t>Exemplo desenvolvido</a:t>
            </a:r>
            <a:endParaRPr/>
          </a:p>
        </p:txBody>
      </p:sp>
      <p:sp>
        <p:nvSpPr>
          <p:cNvPr id="169" name="Google Shape;169;p4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pt-PT">
                <a:solidFill>
                  <a:schemeClr val="lt1"/>
                </a:solidFill>
              </a:rPr>
              <a:t>Este exemplo é constituído prioritariamente por duas bobinas (bobina emissora e recetora) e dois circuitos (emissor e recetor). Como a eficiência nestas condições é bastante baixa o objetivo é acender um led montado no circuito recetor.</a:t>
            </a:r>
            <a:endParaRPr/>
          </a:p>
          <a:p>
            <a:pPr marL="342900" lvl="0" indent="-21710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70" name="Google Shape;17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048" y="2982199"/>
            <a:ext cx="4601217" cy="323895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1496442" y="6221151"/>
            <a:ext cx="24063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Circuito transmissor</a:t>
            </a:r>
            <a:endParaRPr dirty="0"/>
          </a:p>
        </p:txBody>
      </p:sp>
      <p:pic>
        <p:nvPicPr>
          <p:cNvPr id="172" name="Google Shape;17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2001" y="3487090"/>
            <a:ext cx="4439270" cy="2229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 txBox="1"/>
          <p:nvPr/>
        </p:nvSpPr>
        <p:spPr>
          <a:xfrm>
            <a:off x="7570698" y="6221151"/>
            <a:ext cx="197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Circuito recetor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pt-PT"/>
              <a:t>Execução prática</a:t>
            </a:r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spcBef>
                <a:spcPts val="0"/>
              </a:spcBef>
              <a:spcAft>
                <a:spcPts val="0"/>
              </a:spcAft>
              <a:buSzPct val="70000"/>
              <a:buChar char="◈"/>
            </a:pPr>
            <a:r>
              <a:rPr lang="pt-PT" dirty="0">
                <a:solidFill>
                  <a:schemeClr val="lt1"/>
                </a:solidFill>
              </a:rPr>
              <a:t>Para a construção do circuito transmissor foram necessários vários condensadores, duas resistências (47K Ohms e 220 Ohms), um transístor bipolar (BC547C) e a BE.</a:t>
            </a:r>
            <a:endParaRPr dirty="0"/>
          </a:p>
          <a:p>
            <a:pPr marL="342900" lvl="0" indent="-306000" algn="l" rtl="0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pt-PT" dirty="0">
                <a:solidFill>
                  <a:schemeClr val="lt1"/>
                </a:solidFill>
              </a:rPr>
              <a:t>Para a construção do circuito recetor foram necessários 4 díodos do tipo 1N4148, um led e a bobina recetora.</a:t>
            </a:r>
            <a:endParaRPr dirty="0"/>
          </a:p>
          <a:p>
            <a:pPr marL="342900" lvl="0" indent="-306000" algn="l" rtl="0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pt-PT" dirty="0">
                <a:solidFill>
                  <a:schemeClr val="lt1"/>
                </a:solidFill>
              </a:rPr>
              <a:t>As bobinas têm de ter 16 espiras, 12cm de diâmetro e o fio deve ter um diâmetro de 0.4mm.</a:t>
            </a:r>
            <a:endParaRPr dirty="0"/>
          </a:p>
          <a:p>
            <a:pPr marL="342900" lvl="0" indent="-306000" algn="l" rtl="0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pt-PT" dirty="0">
                <a:solidFill>
                  <a:schemeClr val="lt1"/>
                </a:solidFill>
              </a:rPr>
              <a:t>O circuito transmissor deve ser alimentado com uma tensão de 10V.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45183" y="1873956"/>
            <a:ext cx="8701633" cy="422995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DF7247A-35EC-34C5-31DF-9F4E14EF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ósia">
  <a:themeElements>
    <a:clrScheme name="Ardósia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286</Words>
  <Application>Microsoft Office PowerPoint</Application>
  <PresentationFormat>Ecrã Panorâmico</PresentationFormat>
  <Paragraphs>19</Paragraphs>
  <Slides>6</Slides>
  <Notes>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0" baseType="lpstr">
      <vt:lpstr>Noto Sans Symbols</vt:lpstr>
      <vt:lpstr>Lustria</vt:lpstr>
      <vt:lpstr>Arial</vt:lpstr>
      <vt:lpstr>Ardósia</vt:lpstr>
      <vt:lpstr>Transmissor de energia indutivo</vt:lpstr>
      <vt:lpstr>O que é?</vt:lpstr>
      <vt:lpstr>Exemplo de um uso no nosso quotidiano</vt:lpstr>
      <vt:lpstr>Exemplo desenvolvido</vt:lpstr>
      <vt:lpstr>Execução prática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Zé Aníbal</dc:creator>
  <cp:lastModifiedBy>Ricardo Ferreira</cp:lastModifiedBy>
  <cp:revision>2</cp:revision>
  <dcterms:created xsi:type="dcterms:W3CDTF">2021-01-14T16:26:01Z</dcterms:created>
  <dcterms:modified xsi:type="dcterms:W3CDTF">2024-10-08T21:45:27Z</dcterms:modified>
</cp:coreProperties>
</file>